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83" r:id="rId2"/>
    <p:sldId id="257" r:id="rId3"/>
    <p:sldId id="282" r:id="rId4"/>
    <p:sldId id="285" r:id="rId5"/>
    <p:sldId id="278" r:id="rId6"/>
    <p:sldId id="293" r:id="rId7"/>
    <p:sldId id="294" r:id="rId8"/>
    <p:sldId id="295" r:id="rId9"/>
    <p:sldId id="265" r:id="rId10"/>
    <p:sldId id="279" r:id="rId11"/>
    <p:sldId id="296" r:id="rId12"/>
    <p:sldId id="262" r:id="rId13"/>
    <p:sldId id="290" r:id="rId14"/>
    <p:sldId id="291" r:id="rId15"/>
    <p:sldId id="286" r:id="rId16"/>
    <p:sldId id="287" r:id="rId17"/>
    <p:sldId id="280" r:id="rId18"/>
    <p:sldId id="288" r:id="rId19"/>
    <p:sldId id="289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3333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B1D08EF-CE17-7ED9-7926-32D4D8EE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F0DE787-749E-6A01-C271-62DC14A80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221E744-76EE-0C09-6808-1F2CE2D77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0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6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umit2k05/IBM-EDUNET-SOUM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bm-edunet-soumit.vercel.app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0131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072" y="2770188"/>
            <a:ext cx="10515600" cy="658812"/>
          </a:xfrm>
        </p:spPr>
        <p:txBody>
          <a:bodyPr/>
          <a:lstStyle/>
          <a:p>
            <a:pPr algn="ctr"/>
            <a:r>
              <a:rPr lang="en-US" b="1" i="1" dirty="0"/>
              <a:t>“Exploring the Power of Machine Learning with IBM Cloud”</a:t>
            </a:r>
            <a:endParaRPr lang="en-IN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4894499-92EF-A860-7602-8224FA82A335}"/>
              </a:ext>
            </a:extLst>
          </p:cNvPr>
          <p:cNvSpPr/>
          <p:nvPr/>
        </p:nvSpPr>
        <p:spPr>
          <a:xfrm>
            <a:off x="1621872" y="498299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normalizeH="0" baseline="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Soumit Mal   •   B.Tech CSE (Data Science)   •   AI &amp; Cloud Technologies Intern</a:t>
            </a:r>
            <a:endParaRPr kumimoji="0" lang="en-US" sz="2000" i="0" u="none" strike="noStrike" kern="1200" normalizeH="0" baseline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49107AF-F33B-37DF-1878-756583A3AD23}"/>
              </a:ext>
            </a:extLst>
          </p:cNvPr>
          <p:cNvSpPr/>
          <p:nvPr/>
        </p:nvSpPr>
        <p:spPr>
          <a:xfrm>
            <a:off x="1798320" y="363524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 AI-Powered Nutrition Agent built with IBM watsonx.ai, Granite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Models, IBM Bob and watsonx Orchestrate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54C845C-07B1-ED22-F692-35D92C61B9F2}"/>
              </a:ext>
            </a:extLst>
          </p:cNvPr>
          <p:cNvSpPr/>
          <p:nvPr/>
        </p:nvSpPr>
        <p:spPr>
          <a:xfrm>
            <a:off x="1393272" y="573638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Live Demo: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ibm-edunet-soumit.vercel.app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github.com/Soumit2k05/IBM-EDUNET-SOUMIT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684562427"/>
              </p:ext>
            </p:extLst>
          </p:nvPr>
        </p:nvGraphicFramePr>
        <p:xfrm>
          <a:off x="1431787" y="2600315"/>
          <a:ext cx="9829007" cy="279696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60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608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872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SOUMIT </a:t>
                      </a:r>
                      <a:r>
                        <a:rPr lang="en-IN" dirty="0"/>
                        <a:t>MAL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soumitmal10@gmail.com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9002570505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698103" y="1456955"/>
            <a:ext cx="10795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Domain of Project – </a:t>
            </a:r>
            <a:r>
              <a:rPr lang="en-IN" sz="2000" dirty="0"/>
              <a:t>Healthcare &amp; Wellness (AI for Personalized Nutrition)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690624" y="45721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Title – </a:t>
            </a:r>
            <a:r>
              <a:rPr lang="en-US" sz="2800" b="1" dirty="0" err="1"/>
              <a:t>NutriBot</a:t>
            </a:r>
            <a:r>
              <a:rPr lang="en-US" sz="2800" b="1" dirty="0"/>
              <a:t> — AI-Powered Nutrition Agent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97" name="Picture 96" descr="pas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695" y="4025573"/>
            <a:ext cx="890059" cy="1198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80444" y="1803238"/>
            <a:ext cx="10631111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Millions of people struggle to access affordable and personalized nutrition guidance, especially in developing countries like India.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diet applications provide generic meal plans without considering age, gender, BMI, allergies, regional food preferences, or medical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Professional dieticians provide accurate recommendations but consultations are expensive, time-consuming, and difficult to access regularly.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Families require separate diet plans for different members, yet most nutrition applications only support a single user profile.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Manual calculation of BMI, calorie requirements, macronutrients, and meal planning is complicated and prone to human error.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objective is to develop an AI-powered Nutrition Agent that delivers safe, culturally relevant, personalized dietary recommendations using IBM Granite models and IBM watsonx.ai.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780443" y="484280"/>
            <a:ext cx="8404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– </a:t>
            </a:r>
          </a:p>
          <a:p>
            <a:r>
              <a:rPr lang="en-US" sz="2800" b="1" dirty="0"/>
              <a:t>Accessible, Personalized Nutrition Guidance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782320" y="601217"/>
            <a:ext cx="10220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– </a:t>
            </a:r>
          </a:p>
          <a:p>
            <a:r>
              <a:rPr lang="en-US" sz="2800" b="1" dirty="0"/>
              <a:t>IBM </a:t>
            </a:r>
            <a:r>
              <a:rPr lang="en-US" sz="2800" b="1" dirty="0" err="1"/>
              <a:t>Watsonx.Ai</a:t>
            </a:r>
            <a:r>
              <a:rPr lang="en-US" sz="2800" b="1" dirty="0"/>
              <a:t> – Granite Foundation Models &amp; </a:t>
            </a:r>
            <a:r>
              <a:rPr lang="en-US" sz="2800" b="1" dirty="0" err="1"/>
              <a:t>Autoai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03B5E-BBC2-7033-82DC-AE508E7BB2C8}"/>
              </a:ext>
            </a:extLst>
          </p:cNvPr>
          <p:cNvSpPr txBox="1"/>
          <p:nvPr/>
        </p:nvSpPr>
        <p:spPr>
          <a:xfrm>
            <a:off x="782320" y="1842294"/>
            <a:ext cx="10698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Developed </a:t>
            </a:r>
            <a:r>
              <a:rPr lang="en-IN" sz="2000" b="1" dirty="0" err="1"/>
              <a:t>NutriBot</a:t>
            </a:r>
            <a:r>
              <a:rPr lang="en-IN" sz="2000" dirty="0"/>
              <a:t>, an intelligent AI-powered nutrition assistant using Flask, IBM watsonx.ai, and Granite Foundation Models.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Utilizes IBM Granite LLM to understand natural language queries and provide personalized nutrition recommendations.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Generates customized meal plans based on age, weight, BMI, activity level, allergies, dietary preferences, and health goals.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multi-user family profiles, allowing each family member to receive personalized recommendations within a single application.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Integrates an </a:t>
            </a:r>
            <a:r>
              <a:rPr lang="en-IN" sz="2000" dirty="0" err="1"/>
              <a:t>AutoAI</a:t>
            </a:r>
            <a:r>
              <a:rPr lang="en-IN" sz="2000" dirty="0"/>
              <a:t>-based obesity risk prediction model that provides health-risk analysis alongside conversational nutrition guidance.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Uses IBM watsonx.ai Runtime to deploy the trained ML model as a REST API, enabling real-time predictions and scalable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624840" y="389743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01040" y="1207008"/>
            <a:ext cx="10871200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 dirty="0"/>
              <a:t>     IBM CLOUD &amp; AI TECHNOLOGIES</a:t>
            </a: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Cloud &amp; Granite:</a:t>
            </a:r>
            <a:r>
              <a:rPr lang="en-IN" sz="2000" dirty="0"/>
              <a:t> Used IBM Cloud and Granite Foundation Models for secure, personalized AI nutrition guidance.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</a:t>
            </a:r>
            <a:r>
              <a:rPr lang="en-IN" sz="2000" b="1" dirty="0" err="1"/>
              <a:t>AutoAI</a:t>
            </a:r>
            <a:r>
              <a:rPr lang="en-IN" sz="2000" b="1" dirty="0"/>
              <a:t> &amp; Runtime:</a:t>
            </a:r>
            <a:r>
              <a:rPr lang="en-IN" sz="2000" dirty="0"/>
              <a:t> Optimized the Decision Tree model and deployed it as a REST API using watsonx.ai Runtime.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Bob:</a:t>
            </a:r>
            <a:r>
              <a:rPr lang="en-IN" sz="2000" dirty="0"/>
              <a:t> Flask development, debugging, and code optimization in VS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Development Stack:</a:t>
            </a:r>
            <a:r>
              <a:rPr lang="en-IN" sz="2000" dirty="0"/>
              <a:t> Python, Flask, HTML, CSS, JavaScript, and Bootstrap.</a:t>
            </a:r>
          </a:p>
          <a:p>
            <a:endParaRPr lang="en-IN" sz="2000" b="1" dirty="0"/>
          </a:p>
          <a:p>
            <a:pPr lvl="4"/>
            <a:r>
              <a:rPr lang="en-IN" sz="2000" b="1" dirty="0"/>
              <a:t>     MACHINE LEARNING</a:t>
            </a:r>
          </a:p>
          <a:p>
            <a:pPr lvl="4"/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Algorithm:</a:t>
            </a:r>
            <a:r>
              <a:rPr lang="en-IN" sz="2000" dirty="0"/>
              <a:t> Decision Tree Classifier (IBM </a:t>
            </a:r>
            <a:r>
              <a:rPr lang="en-IN" sz="2000" dirty="0" err="1"/>
              <a:t>AutoAI</a:t>
            </a:r>
            <a:r>
              <a:rPr lang="en-IN" sz="2000" dirty="0"/>
              <a:t> Best Pipeline)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Classification:</a:t>
            </a:r>
            <a:r>
              <a:rPr lang="en-IN" sz="2000" dirty="0"/>
              <a:t> Multi-class (7 Obesity Categories)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Accuracy:</a:t>
            </a:r>
            <a:r>
              <a:rPr lang="en-IN" sz="2000" dirty="0"/>
              <a:t> 94.8% Cross-Validation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Optimization:</a:t>
            </a:r>
            <a:r>
              <a:rPr lang="en-IN" sz="2000" dirty="0"/>
              <a:t> Automated Feature Engineering &amp; Hyperparameter Tuning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Deployment:</a:t>
            </a:r>
            <a:r>
              <a:rPr lang="en-IN" sz="2000" dirty="0"/>
              <a:t> IBM watsonx.ai Runtime REST Endpoint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ADFB98-4E04-758B-D49E-550B10D8087C}"/>
              </a:ext>
            </a:extLst>
          </p:cNvPr>
          <p:cNvSpPr txBox="1"/>
          <p:nvPr/>
        </p:nvSpPr>
        <p:spPr>
          <a:xfrm>
            <a:off x="589280" y="460792"/>
            <a:ext cx="923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/>
              <a:t>NutriBot</a:t>
            </a:r>
            <a:r>
              <a:rPr lang="en-IN" sz="2800" b="1" dirty="0"/>
              <a:t> – AI-Powered Nutrition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EB313-2F24-2121-4F34-C2114206D098}"/>
              </a:ext>
            </a:extLst>
          </p:cNvPr>
          <p:cNvSpPr txBox="1"/>
          <p:nvPr/>
        </p:nvSpPr>
        <p:spPr>
          <a:xfrm>
            <a:off x="563880" y="1382286"/>
            <a:ext cx="110642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Technologies:</a:t>
            </a:r>
            <a:r>
              <a:rPr lang="en-IN" sz="2000" dirty="0"/>
              <a:t> Developed using IBM Cloud, IBM watsonx.ai, Granite Foundation Models, IBM </a:t>
            </a:r>
            <a:r>
              <a:rPr lang="en-IN" sz="2000" dirty="0" err="1"/>
              <a:t>AutoAI</a:t>
            </a:r>
            <a:r>
              <a:rPr lang="en-IN" sz="2000" dirty="0"/>
              <a:t>, IBM watsonx.ai Runtime, IBM Bob, Python, Flask, HTML, CSS, JavaScript, and Bootstrap.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Personalized Nutrition:</a:t>
            </a:r>
            <a:r>
              <a:rPr lang="en-IN" sz="2000" dirty="0"/>
              <a:t> Generates customized meal plans based on age, gender, height, weight, dietary preferences, allergies, medical conditions, and fitness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Health Calculations:</a:t>
            </a:r>
            <a:r>
              <a:rPr lang="en-IN" sz="2000" dirty="0"/>
              <a:t> Calculates BMI, BMR, TDEE, daily calorie requirements, and macronutrient recommendations for every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Machine Learning:</a:t>
            </a:r>
            <a:r>
              <a:rPr lang="en-IN" sz="2000" dirty="0"/>
              <a:t> Uses an IBM </a:t>
            </a:r>
            <a:r>
              <a:rPr lang="en-IN" sz="2000" dirty="0" err="1"/>
              <a:t>AutoAI</a:t>
            </a:r>
            <a:r>
              <a:rPr lang="en-IN" sz="2000" dirty="0"/>
              <a:t>-trained Decision Tree Classifier for 7-class obesity prediction with </a:t>
            </a:r>
            <a:r>
              <a:rPr lang="en-IN" sz="2000" b="1" dirty="0"/>
              <a:t>94.8% cross-validation accuracy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Deployment:</a:t>
            </a:r>
            <a:r>
              <a:rPr lang="en-IN" sz="2000" dirty="0"/>
              <a:t> The optimized model is deployed as a live REST API using IBM watsonx.ai Runtime for secure, real-time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Key Features:</a:t>
            </a:r>
            <a:r>
              <a:rPr lang="en-IN" sz="2000" dirty="0"/>
              <a:t> Supports multi-user family profiles, AI nutrition chat, nutrition analysis, and responsive cloud-based access and dark mode.</a:t>
            </a:r>
          </a:p>
        </p:txBody>
      </p:sp>
    </p:spTree>
    <p:extLst>
      <p:ext uri="{BB962C8B-B14F-4D97-AF65-F5344CB8AC3E}">
        <p14:creationId xmlns:p14="http://schemas.microsoft.com/office/powerpoint/2010/main" val="347940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61A2-D8EC-F7D6-D060-8BA9E30C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0" y="417592"/>
            <a:ext cx="10515600" cy="650875"/>
          </a:xfrm>
        </p:spPr>
        <p:txBody>
          <a:bodyPr>
            <a:normAutofit/>
          </a:bodyPr>
          <a:lstStyle/>
          <a:p>
            <a:r>
              <a:rPr lang="en-IN" sz="2800" b="1" dirty="0" err="1">
                <a:latin typeface="+mj-lt"/>
              </a:rPr>
              <a:t>NutriBot</a:t>
            </a:r>
            <a:r>
              <a:rPr lang="en-IN" sz="2800" b="1" dirty="0">
                <a:latin typeface="+mj-lt"/>
              </a:rPr>
              <a:t> Application Showcase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09E861-D6D2-80DA-FD40-52E2649D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63"/>
          <a:stretch>
            <a:fillRect/>
          </a:stretch>
        </p:blipFill>
        <p:spPr>
          <a:xfrm>
            <a:off x="6258560" y="1422191"/>
            <a:ext cx="5557519" cy="3005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A285EF-A88E-B337-101D-2493BF76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10014" b="1820"/>
          <a:stretch>
            <a:fillRect/>
          </a:stretch>
        </p:blipFill>
        <p:spPr>
          <a:xfrm>
            <a:off x="375921" y="1422191"/>
            <a:ext cx="5557519" cy="30847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1AB9CE-85E0-FE31-469B-F4AEE85B734E}"/>
              </a:ext>
            </a:extLst>
          </p:cNvPr>
          <p:cNvSpPr txBox="1"/>
          <p:nvPr/>
        </p:nvSpPr>
        <p:spPr>
          <a:xfrm>
            <a:off x="769620" y="5099307"/>
            <a:ext cx="109778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NutriBot</a:t>
            </a:r>
            <a:r>
              <a:rPr lang="en-IN" sz="2000" dirty="0"/>
              <a:t> provides AI-powered nutrition guidance, BMI/BMR/TDEE calculations, personalized meal planning, nutrition analysis, and multi-user family profiles using IBM Granite Foundation Models and IBM watsonx.ai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27332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07F13-631D-92F5-BCE2-8A41FE36DF73}"/>
              </a:ext>
            </a:extLst>
          </p:cNvPr>
          <p:cNvSpPr txBox="1"/>
          <p:nvPr/>
        </p:nvSpPr>
        <p:spPr>
          <a:xfrm>
            <a:off x="6908800" y="1228397"/>
            <a:ext cx="48056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AI Pair Programmer:</a:t>
            </a:r>
            <a:r>
              <a:rPr lang="en-IN" sz="2000" dirty="0"/>
              <a:t> Assisted in developing the </a:t>
            </a:r>
            <a:r>
              <a:rPr lang="en-IN" sz="2000" dirty="0" err="1"/>
              <a:t>NutriBot</a:t>
            </a:r>
            <a:r>
              <a:rPr lang="en-IN" sz="2000" dirty="0"/>
              <a:t>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Code Generation:</a:t>
            </a:r>
            <a:r>
              <a:rPr lang="en-IN" sz="2000" dirty="0"/>
              <a:t> Generated Python Flask, HTML, CSS, and JavaScript code.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Integration:</a:t>
            </a:r>
            <a:r>
              <a:rPr lang="en-IN" sz="2000" dirty="0"/>
              <a:t> Helped integrate IBM watsonx.ai and Granite AI services.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Debugging &amp; Optimization:</a:t>
            </a:r>
            <a:r>
              <a:rPr lang="en-IN" sz="2000" dirty="0"/>
              <a:t> Detected errors and improved code quality.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Development Support:</a:t>
            </a:r>
            <a:r>
              <a:rPr lang="en-IN" sz="2000" dirty="0"/>
              <a:t> Accelerated implementation and testing of </a:t>
            </a:r>
            <a:r>
              <a:rPr lang="en-IN" sz="2000" dirty="0" err="1"/>
              <a:t>NutriBot</a:t>
            </a:r>
            <a:r>
              <a:rPr lang="en-IN" sz="2000" dirty="0"/>
              <a:t> features.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5769A-3A1C-3C37-7A02-0D26A56C7ECB}"/>
              </a:ext>
            </a:extLst>
          </p:cNvPr>
          <p:cNvSpPr txBox="1"/>
          <p:nvPr/>
        </p:nvSpPr>
        <p:spPr>
          <a:xfrm>
            <a:off x="477520" y="323185"/>
            <a:ext cx="8402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IBM Bob: Accelerating </a:t>
            </a:r>
            <a:r>
              <a:rPr lang="en-IN" sz="2800" b="1" dirty="0" err="1"/>
              <a:t>NutriBot</a:t>
            </a:r>
            <a:r>
              <a:rPr lang="en-IN" sz="2800" b="1" dirty="0"/>
              <a:t> Development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B05BF-AFB5-AEE8-5CE7-2C25A3F1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1690063"/>
            <a:ext cx="6182887" cy="3477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F4C738-6323-30E9-FE00-1BA7F215ECBB}"/>
              </a:ext>
            </a:extLst>
          </p:cNvPr>
          <p:cNvSpPr txBox="1"/>
          <p:nvPr/>
        </p:nvSpPr>
        <p:spPr>
          <a:xfrm>
            <a:off x="2265680" y="5323840"/>
            <a:ext cx="5262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IBM BOB INTERFACE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8421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6928" y="401193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</a:t>
            </a:r>
            <a:r>
              <a:rPr lang="en-US" sz="2800" b="1" dirty="0" err="1">
                <a:solidFill>
                  <a:srgbClr val="0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</a:t>
            </a:r>
            <a:r>
              <a:rPr lang="en-US" sz="2800" b="1" dirty="0">
                <a:solidFill>
                  <a:srgbClr val="0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Orchestrate: Multi-channel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137285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Orchestrate:</a:t>
            </a:r>
            <a:r>
              <a:rPr lang="en-IN" sz="2000" dirty="0"/>
              <a:t> Built and tested Nutrition and Thai Recipe Agents using GPT-OSS 120B for low-code AI deployment.</a:t>
            </a:r>
          </a:p>
        </p:txBody>
      </p:sp>
      <p:pic>
        <p:nvPicPr>
          <p:cNvPr id="7" name="Image 0" descr="/home/claude/work/assets/nutiagent-watson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5349240" cy="25844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2933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Agent — test case with diabetes-aware meal plan &amp; disclaimer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0" name="Image 1" descr="/home/claude/work/assets/thaiagent.png"/>
          <p:cNvPicPr>
            <a:picLocks noChangeAspect="1"/>
          </p:cNvPicPr>
          <p:nvPr/>
        </p:nvPicPr>
        <p:blipFill>
          <a:blip r:embed="rId4"/>
          <a:srcRect t="2792" b="6915"/>
          <a:stretch>
            <a:fillRect/>
          </a:stretch>
        </p:blipFill>
        <p:spPr>
          <a:xfrm>
            <a:off x="6035040" y="2229937"/>
            <a:ext cx="5669280" cy="2879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75834" y="5446395"/>
            <a:ext cx="518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-120"/>
              </a:rPr>
              <a:t>Thai Recipe Agent — custom behaviour instructions grounded in a knowledge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715757" y="364543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Training Screenshots</a:t>
            </a:r>
          </a:p>
        </p:txBody>
      </p:sp>
      <p:pic>
        <p:nvPicPr>
          <p:cNvPr id="3" name="Picture 2" descr="training_progres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35" y="1715834"/>
            <a:ext cx="9784929" cy="45077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B6455F-74A5-0F08-13D4-C7B59C6CA08A}"/>
              </a:ext>
            </a:extLst>
          </p:cNvPr>
          <p:cNvSpPr txBox="1"/>
          <p:nvPr/>
        </p:nvSpPr>
        <p:spPr>
          <a:xfrm>
            <a:off x="715757" y="1064387"/>
            <a:ext cx="3068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PROGRESS MAP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82FAA48-73CB-3A31-6F27-7B0E20C3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7C731E2-C0C4-3C16-5C79-690BF2EFCF3A}"/>
              </a:ext>
            </a:extLst>
          </p:cNvPr>
          <p:cNvSpPr/>
          <p:nvPr/>
        </p:nvSpPr>
        <p:spPr>
          <a:xfrm>
            <a:off x="715757" y="364543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IN" sz="2800" b="1" dirty="0"/>
              <a:t>Model Training </a:t>
            </a:r>
            <a:r>
              <a:rPr lang="en-US" sz="2800" b="1" dirty="0">
                <a:sym typeface="Times New Roman"/>
              </a:rPr>
              <a:t>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37110-8D59-036A-DA55-32A4392EE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6605" y="1715834"/>
            <a:ext cx="9478788" cy="45077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B4E56-A596-BB26-E2BA-C031FB03AD08}"/>
              </a:ext>
            </a:extLst>
          </p:cNvPr>
          <p:cNvSpPr txBox="1"/>
          <p:nvPr/>
        </p:nvSpPr>
        <p:spPr>
          <a:xfrm>
            <a:off x="715757" y="1064387"/>
            <a:ext cx="3068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METRIC CHART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4269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5509" y="523924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</a:t>
            </a:r>
          </a:p>
        </p:txBody>
      </p:sp>
      <p:pic>
        <p:nvPicPr>
          <p:cNvPr id="3" name="Picture 2" descr="best_model_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09" y="1269037"/>
            <a:ext cx="10696575" cy="48407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773563" y="505266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</a:t>
            </a:r>
          </a:p>
        </p:txBody>
      </p:sp>
      <p:pic>
        <p:nvPicPr>
          <p:cNvPr id="3" name="Picture 2" descr="testing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99" y="1315283"/>
            <a:ext cx="10133601" cy="481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552411" y="305703"/>
            <a:ext cx="52486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Calibri"/>
              </a:rPr>
              <a:t>Testing Screenshot</a:t>
            </a:r>
            <a:endParaRPr lang="en-US" sz="2800" dirty="0"/>
          </a:p>
        </p:txBody>
      </p:sp>
      <p:pic>
        <p:nvPicPr>
          <p:cNvPr id="6" name="Picture 5" descr="test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99" y="1170787"/>
            <a:ext cx="10634802" cy="499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Novelty &amp; Uniqueness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51694"/>
            <a:ext cx="11013440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Zero-Form Personalization:</a:t>
            </a:r>
            <a:r>
              <a:rPr lang="en-IN" sz="2000" dirty="0"/>
              <a:t> Automatically extracts user details such as age, weight, diet, allergies, and fitness goals from natural conversations to generate personalized nutrition guidance.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Multi-User Family Profiles:</a:t>
            </a:r>
            <a:r>
              <a:rPr lang="en-IN" sz="2000" dirty="0"/>
              <a:t> Supports multiple family members with separate nutrition profiles, meal plans, and conversation history within a single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AI + ML Integration:</a:t>
            </a:r>
            <a:r>
              <a:rPr lang="en-IN" sz="2000" dirty="0"/>
              <a:t> Combines IBM Granite Foundation Models with an IBM </a:t>
            </a:r>
            <a:r>
              <a:rPr lang="en-IN" sz="2000" dirty="0" err="1"/>
              <a:t>AutoAI</a:t>
            </a:r>
            <a:r>
              <a:rPr lang="en-IN" sz="2000" dirty="0"/>
              <a:t>-trained Decision Tree Classifier achieving </a:t>
            </a:r>
            <a:r>
              <a:rPr lang="en-IN" sz="2000" b="1" dirty="0"/>
              <a:t>94.8% cross-validation accuracy</a:t>
            </a:r>
            <a:r>
              <a:rPr lang="en-IN" sz="2000" dirty="0"/>
              <a:t> for obesity risk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Cloud-Based Deployment:</a:t>
            </a:r>
            <a:r>
              <a:rPr lang="en-IN" sz="2000" dirty="0"/>
              <a:t> Deploys the optimized model as a live REST API using IBM watsonx.ai Runtime, enabling secure and real-time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Modern AI Solution:</a:t>
            </a:r>
            <a:r>
              <a:rPr lang="en-IN" sz="2000" dirty="0"/>
              <a:t> Developed using IBM Cloud, IBM Bob, Python, Flask, HTML, CSS, JavaScript, and Bootstrap to deliver a scalable and responsive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802163" y="308969"/>
            <a:ext cx="7258471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IN" sz="2800" b="1" dirty="0"/>
              <a:t>GitHub Repository &amp; Live Deployment</a:t>
            </a:r>
            <a:endParaRPr lang="en-US" sz="2800" b="1" dirty="0"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E96A4-006A-3AD3-6FDF-232430C3C1E2}"/>
              </a:ext>
            </a:extLst>
          </p:cNvPr>
          <p:cNvSpPr txBox="1"/>
          <p:nvPr/>
        </p:nvSpPr>
        <p:spPr>
          <a:xfrm>
            <a:off x="802163" y="1630513"/>
            <a:ext cx="104655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+mj-lt"/>
              </a:rPr>
              <a:t>GitHub Repository:</a:t>
            </a:r>
            <a:r>
              <a:rPr lang="en-IN" sz="2000" dirty="0">
                <a:latin typeface="+mj-lt"/>
              </a:rPr>
              <a:t> </a:t>
            </a:r>
            <a:r>
              <a:rPr lang="en-IN" sz="2000" dirty="0">
                <a:latin typeface="+mj-lt"/>
                <a:hlinkClick r:id="rId3"/>
              </a:rPr>
              <a:t>https://github.com/Soumit2k05/IBM-EDUNET-SOUMIT</a:t>
            </a:r>
            <a:r>
              <a:rPr lang="en-IN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+mj-lt"/>
              </a:rPr>
              <a:t>Live Application:</a:t>
            </a:r>
            <a:r>
              <a:rPr lang="en-IN" sz="2000" dirty="0">
                <a:latin typeface="+mj-lt"/>
              </a:rPr>
              <a:t> </a:t>
            </a:r>
            <a:r>
              <a:rPr lang="en-IN" sz="2000" dirty="0">
                <a:latin typeface="+mj-lt"/>
                <a:hlinkClick r:id="rId4"/>
              </a:rPr>
              <a:t>https://ibm-edunet-soumit.vercel.app</a:t>
            </a:r>
            <a:r>
              <a:rPr lang="en-IN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+mj-lt"/>
              </a:rPr>
              <a:t>Repository Includes:</a:t>
            </a:r>
            <a:r>
              <a:rPr lang="en-IN" sz="2000" dirty="0">
                <a:latin typeface="+mj-lt"/>
              </a:rPr>
              <a:t> Flask application, IBM watsonx.ai integration, IBM Granite AI, </a:t>
            </a:r>
            <a:r>
              <a:rPr lang="en-IN" sz="2000" dirty="0" err="1">
                <a:latin typeface="+mj-lt"/>
              </a:rPr>
              <a:t>AutoAI</a:t>
            </a:r>
            <a:r>
              <a:rPr lang="en-IN" sz="2000" dirty="0">
                <a:latin typeface="+mj-lt"/>
              </a:rPr>
              <a:t> model, frontend templates, and project documentation.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+mj-lt"/>
              </a:rPr>
              <a:t>Key Files:</a:t>
            </a:r>
            <a:r>
              <a:rPr lang="en-IN" sz="2000" dirty="0">
                <a:latin typeface="+mj-lt"/>
              </a:rPr>
              <a:t> app.py, agent_instructions.py, requirements.txt, .</a:t>
            </a:r>
            <a:r>
              <a:rPr lang="en-IN" sz="2000" dirty="0" err="1">
                <a:latin typeface="+mj-lt"/>
              </a:rPr>
              <a:t>env.example</a:t>
            </a:r>
            <a:r>
              <a:rPr lang="en-IN" sz="2000" dirty="0">
                <a:latin typeface="+mj-lt"/>
              </a:rPr>
              <a:t>, HTML/CSS/JavaScript templates, and </a:t>
            </a:r>
            <a:r>
              <a:rPr lang="en-IN" sz="2000" dirty="0" err="1">
                <a:latin typeface="+mj-lt"/>
              </a:rPr>
              <a:t>AutoAI</a:t>
            </a:r>
            <a:r>
              <a:rPr lang="en-IN" sz="2000" dirty="0">
                <a:latin typeface="+mj-lt"/>
              </a:rPr>
              <a:t> model artifacts.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+mj-lt"/>
              </a:rPr>
              <a:t>Status:</a:t>
            </a:r>
            <a:r>
              <a:rPr lang="en-IN" sz="2000" dirty="0">
                <a:latin typeface="+mj-lt"/>
              </a:rPr>
              <a:t> Public GitHub repository with README and successfully deployed, working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21360" y="51769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21360" y="1343636"/>
            <a:ext cx="10901679" cy="511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000" b="1" dirty="0"/>
              <a:t>Wearable &amp; IoT Integration:</a:t>
            </a:r>
            <a:r>
              <a:rPr lang="en-IN" sz="2000" dirty="0"/>
              <a:t> Connect smartwatches and fitness bands for real-time monitoring of activity, heart rate, sleep, and calories.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000" b="1" dirty="0"/>
              <a:t>Persistent Cloud Database:</a:t>
            </a:r>
            <a:r>
              <a:rPr lang="en-IN" sz="2000" dirty="0"/>
              <a:t> Store long-term diet history, health records, and personalized nutrition plans securely for every user.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000" b="1" dirty="0"/>
              <a:t>Voice-Based AI Assistant:</a:t>
            </a:r>
            <a:r>
              <a:rPr lang="en-IN" sz="2000" dirty="0"/>
              <a:t> Enable hands-free nutrition guidance using IBM </a:t>
            </a:r>
            <a:r>
              <a:rPr lang="en-IN" sz="2000" dirty="0" err="1"/>
              <a:t>watsonx</a:t>
            </a:r>
            <a:r>
              <a:rPr lang="en-IN" sz="2000" dirty="0"/>
              <a:t> Orchestrate with voice and phone support.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000" b="1" dirty="0"/>
              <a:t>Regional Language Support:</a:t>
            </a:r>
            <a:r>
              <a:rPr lang="en-IN" sz="2000" dirty="0"/>
              <a:t> Provide personalized nutrition guidance in multiple Indian languages for improved accessibility.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sz="2000" b="1" dirty="0"/>
              <a:t>Healthcare &amp; Clinical Integration:</a:t>
            </a:r>
            <a:r>
              <a:rPr lang="en-IN" sz="2000" dirty="0"/>
              <a:t> Integrate with hospitals, clinics, and health databases to support preventive healthcare and personalized treatment recommendations.</a:t>
            </a:r>
            <a:endParaRPr lang="en-US" sz="2000" b="1" dirty="0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585858" y="369018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843280" y="997233"/>
            <a:ext cx="105054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Getting Started with Artificial Intelligence — IBM </a:t>
            </a:r>
            <a:r>
              <a:rPr lang="en-US" sz="2000" dirty="0" err="1"/>
              <a:t>SkillsBuild</a:t>
            </a:r>
            <a:r>
              <a:rPr lang="en-US" sz="2000" dirty="0"/>
              <a:t>, </a:t>
            </a:r>
            <a:r>
              <a:rPr lang="en-US" sz="2000" dirty="0" err="1"/>
              <a:t>Credly</a:t>
            </a:r>
            <a:r>
              <a:rPr lang="en-US" sz="2000" dirty="0"/>
              <a:t>-verified, Jul 01, 2026</a:t>
            </a:r>
          </a:p>
        </p:txBody>
      </p:sp>
      <p:pic>
        <p:nvPicPr>
          <p:cNvPr id="7" name="Picture 6" descr="cert_ai.png"/>
          <p:cNvPicPr>
            <a:picLocks noChangeAspect="1"/>
          </p:cNvPicPr>
          <p:nvPr/>
        </p:nvPicPr>
        <p:blipFill>
          <a:blip r:embed="rId2"/>
          <a:srcRect b="3848"/>
          <a:stretch>
            <a:fillRect/>
          </a:stretch>
        </p:blipFill>
        <p:spPr>
          <a:xfrm>
            <a:off x="3098137" y="1631024"/>
            <a:ext cx="5995724" cy="445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589651" y="453204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733316" y="1110514"/>
            <a:ext cx="1072536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Lab: Troubleshoot Your Code Using IBM Bob — IBM </a:t>
            </a:r>
            <a:r>
              <a:rPr lang="en-US" sz="2000" dirty="0" err="1"/>
              <a:t>SkillsBuild</a:t>
            </a:r>
            <a:r>
              <a:rPr lang="en-US" sz="2000" dirty="0"/>
              <a:t> (ALM-COURSE_4071307), Jun 22, 2026</a:t>
            </a:r>
          </a:p>
        </p:txBody>
      </p:sp>
      <p:pic>
        <p:nvPicPr>
          <p:cNvPr id="7" name="Picture 6" descr="cert_b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960" y="1997910"/>
            <a:ext cx="6829816" cy="419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1238</Words>
  <Application>Microsoft Office PowerPoint</Application>
  <PresentationFormat>Widescreen</PresentationFormat>
  <Paragraphs>109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NutriBot Application Showcase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SOUMIT MAL</cp:lastModifiedBy>
  <cp:revision>11</cp:revision>
  <dcterms:created xsi:type="dcterms:W3CDTF">2025-07-08T05:06:56Z</dcterms:created>
  <dcterms:modified xsi:type="dcterms:W3CDTF">2026-07-14T20:19:13Z</dcterms:modified>
</cp:coreProperties>
</file>